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講者備註：開場約1分鐘。先說明本報告使用公開資訊、研究推估與情境示意；不代表已確認的攻臺作戰計畫。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講者備註：全程約60分鐘：理念9、編組9、輸具8、演訓9、階段9、直升機威脅12、結語4。章節頁及問答可彈性調整。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講者備註：章節過場，約15秒。說明本章要回答的核心問題，避免把概念示意當成已確認部署。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講者備註：建議講述約1至2分鐘。先說明主要概念，再以公開資料說明證據與不確定性；圖像僅作概念示意。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講者備註：附錄：可在口頭報告提醒資料有時間差；規格數字需逐筆確認。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1554480"/>
            <a:ext cx="6675120" cy="32004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126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5700" b="1">
                <a:solidFill>
                  <a:srgbClr val="FFE32C"/>
                </a:solidFill>
                <a:latin typeface="標楷體"/>
              </a:defRPr>
            </a:pPr>
            <a:r>
              <a:t>敵 情 威 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3756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3F6FF"/>
                </a:solidFill>
                <a:latin typeface="標楷體"/>
              </a:defRPr>
            </a:pPr>
            <a:r>
              <a:t>中共對臺軍事行動與航空威脅研析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E32C"/>
                </a:solidFill>
                <a:latin typeface="標楷體"/>
              </a:defRPr>
            </a:pPr>
            <a:r>
              <a:t>資料截點：115年10月22日｜報告約60分鐘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報告綱目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一、中共對臺作戰理念概述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二、共軍攻臺編組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9736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三、輸具能力與限制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18104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四、共軍年度重大演訓分析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76472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五、共軍攻臺階段劃分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六、共軍對我直升機威脅武器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93208"/>
            <a:ext cx="1060704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FE32C"/>
                </a:solidFill>
                <a:latin typeface="標楷體"/>
              </a:defRPr>
            </a:pPr>
            <a:r>
              <a:t>七、結語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中共對臺作戰</a:t>
            </a:r>
          </a:p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理念概述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本章建議報告時間：約8分鐘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一、對臺作戰的政治與軍事目的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</a:t>
            </a:r>
          </a:p>
        </p:txBody>
      </p:sp>
      <p:pic>
        <p:nvPicPr>
          <p:cNvPr id="5" name="Picture 4" descr="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政治目的：以各類施壓及軍事手段影響臺灣決策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軍事目的：形成局部或全面作戰優勢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軍事選項：威懾、隔離／封鎖、火力打擊、登島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不同選項不必然依同一時間順序發生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研析提醒：政治目標與具體軍事行動不可混同。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一、2026年公開研判：作戰理念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5</a:t>
            </a:r>
          </a:p>
        </p:txBody>
      </p:sp>
      <p:pic>
        <p:nvPicPr>
          <p:cNvPr id="5" name="Picture 4" descr="pan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積極防禦與聯合作戰為重要軍事理論脈絡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著重跨軍兵種、跨領域協同及資訊優勢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灰色地帶活動與傳統軍事行動相互交織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重視對外介入的威懾與反介入能力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來源：國防部2026年度公開說明；用語為研析歸納。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一、作戰方式：從單一進攻到多元施壓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6</a:t>
            </a:r>
          </a:p>
        </p:txBody>
      </p:sp>
      <p:pic>
        <p:nvPicPr>
          <p:cNvPr id="5" name="Picture 4" descr="pan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平時：聯合戰備警巡、海警執法與軍事宣傳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危機：劃設管制區域、擴大海空活動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衝突：可能出現封鎖、打擊與登島等選項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混合手段：網路、電子與資訊領域活動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分析：多種方案可交疊，非預言特定作戰順序。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一、作戰關鍵：體系與綜合制權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7</a:t>
            </a:r>
          </a:p>
        </p:txBody>
      </p:sp>
      <p:pic>
        <p:nvPicPr>
          <p:cNvPr id="5" name="Picture 4" descr="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指揮與情監偵的整合影響作戰協同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空海資訊優勢牽動跨海軍事行動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後勤補給與持續運輸是大規模作戰限制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戰略溝通、國際反應同樣影響衝突發展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不能以單一平台的性能等同整體作戰能力。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一、對臺威脅評估應注意事項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8</a:t>
            </a:r>
          </a:p>
        </p:txBody>
      </p:sp>
      <p:pic>
        <p:nvPicPr>
          <p:cNvPr id="5" name="Picture 4" descr="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區分已發生行動、公開能力與研究推演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不把每日軍機艦活動直接等同犯臺徵候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關注活動規模、持續時間及跨域配合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確認資料日期、來源及裝備識別可信度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本簡報所有階段圖均為概念示意。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共軍攻臺編組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本章建議報告時間：約9分鐘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二、聯合作戰指揮：概念架構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10</a:t>
            </a:r>
          </a:p>
        </p:txBody>
      </p:sp>
      <p:pic>
        <p:nvPicPr>
          <p:cNvPr id="5" name="Picture 4" descr="pane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中央軍委：最高軍事領導機構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東部戰區：涉臺主要方向聯合作戰體系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陸、海、空、火箭軍及相關支援力量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具體戰時兵力編配與指揮細節未公開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以下編組為功能性研判，不代表已證實戰時序列。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二、海上兵力：艦隊與登陸支援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11</a:t>
            </a:r>
          </a:p>
        </p:txBody>
      </p:sp>
      <p:pic>
        <p:nvPicPr>
          <p:cNvPr id="5" name="Picture 4" descr="pan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海軍水面艦艇：防空、反潛與海上控制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兩棲艦艇：人員、車輛、直升機投送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海警與其他海上力量：灰帶活動及管制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民用船舶：可能提供補充運力但有限制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裝備例：055、052D、071、075及民用滾裝船。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二、航空兵力：空中作戰與支援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12</a:t>
            </a:r>
          </a:p>
        </p:txBody>
      </p:sp>
      <p:pic>
        <p:nvPicPr>
          <p:cNvPr id="5" name="Picture 4" descr="pan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戰鬥機：殲-10C、殲-16、殲-20等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轟炸及支援平台：轟-6K、空警系列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直升機：直-10、直-19、直-20等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無人平台：偵察、監視及其他任務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平台是否實際參與特定行動，須有獨立證據。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二、陸上兵力：登陸與後續地面作戰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13</a:t>
            </a:r>
          </a:p>
        </p:txBody>
      </p:sp>
      <p:pic>
        <p:nvPicPr>
          <p:cNvPr id="5" name="Picture 4" descr="pan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陸軍兩棲合成部隊與海軍陸戰隊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空中突擊、工兵、防空與後勤力量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裝甲車輛例：05式兩棲戰車／步戰車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長期陸上控制仍需龐大地面支援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各單位編制、駐地與實際登島任務不得混為一談。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二、火箭軍與資訊支援力量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14</a:t>
            </a:r>
          </a:p>
        </p:txBody>
      </p:sp>
      <p:pic>
        <p:nvPicPr>
          <p:cNvPr id="5" name="Picture 4" descr="pane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火箭軍具常規飛彈及戰略嚇阻職能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資訊與電子領域影響偵察、通信與指管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衛星與無人系統擴展情報蒐集能力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跨軍兵種協同依賴可靠的指揮網路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型號例：東風系列；不列未證實的個別打擊任務。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二、編組研判：可確認與待查證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15</a:t>
            </a:r>
          </a:p>
        </p:txBody>
      </p:sp>
      <p:pic>
        <p:nvPicPr>
          <p:cNvPr id="5" name="Picture 4" descr="pane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可確認：各軍種的公開編制與裝備類別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可推估：特定任務所需功能性兵力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待查證：戰時確切番號、動員與集結規模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報告方式：按「來源／日期／信度」分開呈現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情資品質是作戰序列研析的重要前提。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輸具能力與限制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本章建議報告時間：約8分鐘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三、主要海上輸具：型號總覽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17</a:t>
            </a:r>
          </a:p>
        </p:txBody>
      </p:sp>
      <p:pic>
        <p:nvPicPr>
          <p:cNvPr id="5" name="Picture 4" descr="pane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075型兩棲攻擊艦：直升機與兩棲載具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071型船塢登陸艦：車輛及登陸艇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072系列坦克登陸艦：近岸投送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726型氣墊登陸艇：海上至岸際機動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另有民用滾裝船；其作戰適用性須個別評估。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三、空中輸具與投送特性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18</a:t>
            </a:r>
          </a:p>
        </p:txBody>
      </p:sp>
      <p:pic>
        <p:nvPicPr>
          <p:cNvPr id="5" name="Picture 4" descr="pane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運-20：大型運輸機，依賴可用機場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運-9：中型運輸與多樣任務平台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直-20：中型通用直升機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直-8／直-18：較大型直升機家族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型號僅作能力介紹，非已確認攻臺編組。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三、輸具優勢與應用範圍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19</a:t>
            </a:r>
          </a:p>
        </p:txBody>
      </p:sp>
      <p:pic>
        <p:nvPicPr>
          <p:cNvPr id="5" name="Picture 4" descr="pane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兩棲艦可結合載具、人員與航空運用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氣墊艇可降低部分近岸地形限制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民船可能擴充非專用型輸送量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海空結合可提供不同投送形式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不等同具有足夠能力完成大規模跨海作戰。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三、輸具限制：環境與運輸條件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20</a:t>
            </a:r>
          </a:p>
        </p:txBody>
      </p:sp>
      <p:pic>
        <p:nvPicPr>
          <p:cNvPr id="5" name="Picture 4" descr="pane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海象、氣象與航運安全影響可用性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艦艇裝卸、港口設施與岸際條件重要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民船防護、裝卸與指管整合面臨挑戰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大量裝備、人員的後續補給需求高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公開研究普遍認為跨海後勤是重要挑戰。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三、運量判讀：不要把規格相加當戰力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21</a:t>
            </a:r>
          </a:p>
        </p:txBody>
      </p:sp>
      <p:pic>
        <p:nvPicPr>
          <p:cNvPr id="5" name="Picture 4" descr="pane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艦艇理論載量不等於實際可投送兵力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不同載具的裝載配置與任務互相排擠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運輸週期及裝卸條件會影響有效運量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持續補給與傷患後送亦占用運輸資源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避免引用缺少定義的「一次可登陸總人數」。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共軍年度重大</a:t>
            </a:r>
          </a:p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演訓分析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本章建議報告時間：約9分鐘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四、2026年度演訓觀察架構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23</a:t>
            </a:r>
          </a:p>
        </p:txBody>
      </p:sp>
      <p:pic>
        <p:nvPicPr>
          <p:cNvPr id="5" name="Picture 4" descr="pane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常態活動：聯合戰備警巡與機艦部署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特定演訓：海空兵力協同、跨區活動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區域活動：不同海域同步演習公告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研析重點：頻率、規模、持續與協同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資訊截止日：2026年10月22日，不含未來活動。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四、2026年10月：多海域演訓公告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24</a:t>
            </a:r>
          </a:p>
        </p:txBody>
      </p:sp>
      <p:pic>
        <p:nvPicPr>
          <p:cNvPr id="5" name="Picture 4" descr="pane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10月12日至17日：共軍公告多海域演訓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涉及黃海、東海、南海與渤海等海域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臺灣國防部表示研判非緊鄰臺灣演習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不宜直接稱為一次「圍臺聯合登陸演習」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來源：中央社2026.10.12；公開海事通告。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四、2026年10月臺海周邊活動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25</a:t>
            </a:r>
          </a:p>
        </p:txBody>
      </p:sp>
      <p:pic>
        <p:nvPicPr>
          <p:cNvPr id="5" name="Picture 4" descr="pane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10月19至20日：14架次軍機、7艘軍艦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10月20至21日：29架次軍機、6艘軍艦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另分別偵獲7與9艘公務船活動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屬國防部逐日公布之監控資料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資料：國防部2026.10.20與10.21動態，不等於作戰徵候判定。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四、演訓目的與趨勢研析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26</a:t>
            </a:r>
          </a:p>
        </p:txBody>
      </p:sp>
      <p:pic>
        <p:nvPicPr>
          <p:cNvPr id="5" name="Picture 4" descr="pane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驗證海空協同與區域性軍事存在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增加官兵對跨軍兵種行動的熟悉度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政治訊號與軍事訓練可能同時存在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受外界可見資訊限制，不能確證所有課目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此頁為分析判斷，應與官宣事實分開。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四、演訓對我方的情報意涵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27</a:t>
            </a:r>
          </a:p>
        </p:txBody>
      </p:sp>
      <p:pic>
        <p:nvPicPr>
          <p:cNvPr id="5" name="Picture 4" descr="pane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從單次數量轉向觀察長期基線變化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同時關注軍機、艦艇、海警及民船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區分戰備警巡與較大規模特殊演訓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結合公開影像與官方通報交叉核對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對「由演轉戰」保持警覺，但不以單項指標定論。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四、年度分析總結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28</a:t>
            </a:r>
          </a:p>
        </p:txBody>
      </p:sp>
      <p:pic>
        <p:nvPicPr>
          <p:cNvPr id="5" name="Picture 4" descr="pane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演訓呈常態化與跨領域協同特徵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區域演訓不必然表示即將攻臺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公開資料可證明活動，未必證明意圖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可靠判讀需要時間序列與多源核實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結論屬趨勢研析，不是開戰時間預測。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共軍攻臺階段劃分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本章建議報告時間：約9分鐘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五、階段模型：僅供情境理解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30</a:t>
            </a:r>
          </a:p>
        </p:txBody>
      </p:sp>
      <p:pic>
        <p:nvPicPr>
          <p:cNvPr id="5" name="Picture 4" descr="pan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階段一：灰色地帶施壓與情勢升高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階段二：海空隔離或聯合封控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階段三：聯合火力與資訊對抗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階段四：可能登島及後續地面行動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各階段可重疊、跳過或停留；非確定作戰流程。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五、階段一：灰色地帶施壓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31</a:t>
            </a:r>
          </a:p>
        </p:txBody>
      </p:sp>
      <p:pic>
        <p:nvPicPr>
          <p:cNvPr id="5" name="Picture 4" descr="pan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增加海空活動與常態化巡弋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海警及執法行動可能與軍事活動並行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資訊宣傳、外交與經濟工具配合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軍事與非軍事手段界線模糊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需區分日常活動、危機升溫與武裝衝突。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五、階段二：聯合封控／隔離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32</a:t>
            </a:r>
          </a:p>
        </p:txBody>
      </p:sp>
      <p:pic>
        <p:nvPicPr>
          <p:cNvPr id="5" name="Picture 4" descr="pane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可能運用軍艦、航空器及海警力量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海空交通活動與商業運輸承受壓力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封鎖與隔離的法律、強度及範圍不同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對區域經濟、民生與外部反應有影響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分析重點是可能影響與風險，不繪製實戰封鎖點位。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五、階段三：聯合打擊與資訊對抗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33</a:t>
            </a:r>
          </a:p>
        </p:txBody>
      </p:sp>
      <p:pic>
        <p:nvPicPr>
          <p:cNvPr id="5" name="Picture 4" descr="pan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空中、海上、地面與資訊領域可能交織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電子干擾、網路活動與精準打擊相互關聯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不同作戰領域的效果存在不確定性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民生基礎設施與人道風險可能升高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僅作高層次說明，不標定具體打擊目標。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五、階段四：登島及地面行動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34</a:t>
            </a:r>
          </a:p>
        </p:txBody>
      </p:sp>
      <p:pic>
        <p:nvPicPr>
          <p:cNvPr id="5" name="Picture 4" descr="pan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兩棲、空中與後續梯隊投送需協同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地面作戰需處理城鎮與複雜地形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運輸與補給需求可能持續增加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作戰結果受多項軍事及政治因素制約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登島能力不同於成功控制全島的能力。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五、階段劃分：情報研析提醒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35</a:t>
            </a:r>
          </a:p>
        </p:txBody>
      </p:sp>
      <p:pic>
        <p:nvPicPr>
          <p:cNvPr id="5" name="Picture 4" descr="pan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不能把推演想定直接視為敵軍命令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應辨別軍事行動、政治表態與訊號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從公開證據逐步更新判斷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對重大不確定性主動標註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2026漢光42號想定為我方演訓設計，不是共軍已公布計畫。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共軍對我直升機</a:t>
            </a:r>
          </a:p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威脅武器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本章建議報告時間：約12分鐘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六、威脅類型概覽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37</a:t>
            </a:r>
          </a:p>
        </p:txBody>
      </p:sp>
      <p:pic>
        <p:nvPicPr>
          <p:cNvPr id="5" name="Picture 4" descr="pane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固定翼戰機：空中攔截與空對空武器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直升機：部分具空對空或近距作戰能力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地面防空：長、中、短程防空系統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艦載防空、雷達與電子作戰系統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裝備外觀與平台示意，不包含武器發射畫面。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六、戰機與空對空武器型號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38</a:t>
            </a:r>
          </a:p>
        </p:txBody>
      </p:sp>
      <p:pic>
        <p:nvPicPr>
          <p:cNvPr id="5" name="Picture 4" descr="pane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殲-16：雙發多用途戰鬥機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殲-10C：單發多用途戰鬥機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殲-20：匿蹤戰鬥機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霹靂-10、霹靂-15：公開常見空對空彈型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未經證實的特定載彈構型不予宣稱。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六、武裝直升機與空中威脅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39</a:t>
            </a:r>
          </a:p>
        </p:txBody>
      </p:sp>
      <p:pic>
        <p:nvPicPr>
          <p:cNvPr id="5" name="Picture 4" descr="pan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直-10：專職武裝直升機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直-19：輕型偵察／武裝直升機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天燕-90（TY-90）：直升機用空對空彈型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威脅應按實際空域、任務與部署評估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公開裝備資料不代表目前就在臺海指定空域部署。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六、長中程地面防空：型號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40</a:t>
            </a:r>
          </a:p>
        </p:txBody>
      </p:sp>
      <p:pic>
        <p:nvPicPr>
          <p:cNvPr id="5" name="Picture 4" descr="pan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紅旗-9／紅旗-9B：遠程地面防空系統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紅旗-22：中遠程防空系統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紅旗-16：中程防空系統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FFE32C"/>
                </a:solidFill>
                <a:latin typeface="標楷體"/>
              </a:defRPr>
            </a:pPr>
            <a:r>
              <a:t>▸ S-300系列：共軍曾引進的俄製防空系統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各批次雷達及導引配置可能不同；不虛構特定配套。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六、近距與野戰防空：型號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41</a:t>
            </a:r>
          </a:p>
        </p:txBody>
      </p:sp>
      <p:pic>
        <p:nvPicPr>
          <p:cNvPr id="5" name="Picture 4" descr="pan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紅旗-17／紅旗-17A：機動式近程防空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紅旗-7：較早期近程防空系列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前衛系列（如QW-2）：肩射式防空飛彈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PGZ-09：自行高射砲系統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系統涵蓋不同世代，部署狀態須另行查證。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六、海上防空武器：型號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42</a:t>
            </a:r>
          </a:p>
        </p:txBody>
      </p:sp>
      <p:pic>
        <p:nvPicPr>
          <p:cNvPr id="5" name="Picture 4" descr="pan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052D型驅逐艦：主要水面作戰艦種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055型驅逐艦：大型多任務水面艦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海紅旗-9系列：艦載遠程防空飛彈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海紅旗-10：艦載近程防空飛彈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注意艦型、飛彈批次與雷達型號不可概括配對。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六、雷達與偵蒐平台：型號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43</a:t>
            </a:r>
          </a:p>
        </p:txBody>
      </p:sp>
      <p:pic>
        <p:nvPicPr>
          <p:cNvPr id="5" name="Picture 4" descr="pan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空警-500：空中預警機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空警-2000：大型空中預警機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052D艦：常見346A相位陣列雷達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055艦：公開資料常稱346B型雷達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346B稱呼與批次識別見公開研究，部分細節有不確定性。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六、直升機所面臨的複合威脅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44</a:t>
            </a:r>
          </a:p>
        </p:txBody>
      </p:sp>
      <p:pic>
        <p:nvPicPr>
          <p:cNvPr id="5" name="Picture 4" descr="pane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雷達／紅外線感測器形成不同偵測來源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空對空、地對空與艦對空武器並存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電子干擾可能影響通信及導航環境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無人系統也可能提高空域環境複雜度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本章僅作公開威脅識別，不推定任何特定機型必定遭攻擊。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六、型號與性能數據引用原則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45</a:t>
            </a:r>
          </a:p>
        </p:txBody>
      </p:sp>
      <p:pic>
        <p:nvPicPr>
          <p:cNvPr id="5" name="Picture 4" descr="pan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依「型號—載台—用途—資料日期」建立清單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公布射程與實際有效交戰距離不可混用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不同批次、版本及外銷型號可能不同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不明確雷達頻段／射控配套標註待查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正式威脅參數應以授權技令與有效情報資料庫為準。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"/>
            <a:ext cx="6702552" cy="6547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3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6CC4EE"/>
                </a:solidFill>
                <a:latin typeface="標楷體"/>
              </a:defRPr>
            </a:pPr>
            <a:r>
              <a:t>第7章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128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200" b="1">
                <a:solidFill>
                  <a:srgbClr val="FFE32C"/>
                </a:solidFill>
                <a:latin typeface="標楷體"/>
              </a:defRPr>
            </a:pPr>
            <a:r>
              <a:t>結語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3F6FF"/>
                </a:solidFill>
                <a:latin typeface="標楷體"/>
              </a:defRPr>
            </a:pPr>
            <a:r>
              <a:t>本章建議報告時間：約4分鐘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七、整體敵情研判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47</a:t>
            </a:r>
          </a:p>
        </p:txBody>
      </p:sp>
      <p:pic>
        <p:nvPicPr>
          <p:cNvPr id="5" name="Picture 4" descr="pane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對臺軍事施壓已呈持續性與多樣化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聯合封控、跨域整合為重要研究方向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輸具量能與長期持續能力仍具限制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直升機威脅來自多平台、多層次防空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結語聚焦威脅辨識，並保留情報研判的不確定性。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七、軍事情報研析重點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48</a:t>
            </a:r>
          </a:p>
        </p:txBody>
      </p:sp>
      <p:pic>
        <p:nvPicPr>
          <p:cNvPr id="5" name="Picture 4" descr="pane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持續更新公開演訓、裝備與部署資料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以多源交叉核實提高裝備識別品質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區別能力、意圖、部署與實際行動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保留資料來源、判讀信度及更新日期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重視動態追蹤，避免使用過期單一來源。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七、結語／報告完畢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49</a:t>
            </a:r>
          </a:p>
        </p:txBody>
      </p:sp>
      <p:pic>
        <p:nvPicPr>
          <p:cNvPr id="5" name="Picture 4" descr="pane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316736"/>
            <a:ext cx="4114800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261872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掌握中共軍事現代化與聯合作戰趨勢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2586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客觀評估海空投送及防空威脅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3300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持續研析情勢變化與不確定性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4014"/>
            <a:ext cx="676656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FFE32C"/>
                </a:solidFill>
                <a:latin typeface="標楷體"/>
              </a:defRPr>
            </a:pPr>
            <a:r>
              <a:t>▸ 報告完畢，敬請指導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CC4EE"/>
                </a:solidFill>
                <a:latin typeface="標楷體"/>
              </a:defRPr>
            </a:pPr>
            <a:r>
              <a:t>建議最後預留2至3分鐘說明與問答。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資料：國防部公開資訊、公開軍事研究｜2026.10；圖像為AI概念示意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FE32C"/>
                </a:solidFill>
                <a:latin typeface="標楷體"/>
              </a:defRPr>
            </a:pPr>
            <a:r>
              <a:t>資料來源與圖像說明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996696"/>
            <a:ext cx="11320272" cy="29260"/>
          </a:xfrm>
          <a:prstGeom prst="rect">
            <a:avLst/>
          </a:prstGeom>
          <a:solidFill>
            <a:srgbClr val="6CC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528816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中華民國國防部，115年4月與7月漢光42號新聞資料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83664"/>
            <a:ext cx="10881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中華民國國防部，115年10月20、21日共軍動態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70048"/>
            <a:ext cx="10881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中央社，2026年10月12日共軍區域演訓報導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56432"/>
            <a:ext cx="10881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Janes，Type 071／075兩棲艦能力研究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42816"/>
            <a:ext cx="10881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瑞典FOI，2025《Studying China’s Military Power》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029200"/>
            <a:ext cx="108813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FFE32C"/>
                </a:solidFill>
                <a:latin typeface="標楷體"/>
              </a:defRPr>
            </a:pPr>
            <a:r>
              <a:t>▸ 本簡報部分影像為AI生成概念圖，非實際軍事紀實照片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8309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8C9E4"/>
                </a:solidFill>
                <a:latin typeface="標楷體"/>
              </a:defRPr>
            </a:pPr>
            <a:r>
              <a:t>公開資料參考｜資料截點2026.10.22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